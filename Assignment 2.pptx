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7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3135" y="1076960"/>
            <a:ext cx="7766685" cy="1682115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Principles of Cross Compiler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6810" y="3206750"/>
            <a:ext cx="3027680" cy="1403985"/>
          </a:xfrm>
        </p:spPr>
        <p:txBody>
          <a:bodyPr vert="horz" lIns="91440" tIns="45720" rIns="91440" bIns="45720" rtlCol="0" anchor="t">
            <a:normAutofit lnSpcReduction="20000"/>
          </a:bodyPr>
          <a:lstStyle/>
          <a:p>
            <a:r>
              <a:rPr lang="en-US" dirty="0">
                <a:ea typeface="+mn-lt"/>
                <a:cs typeface="+mn-lt"/>
              </a:rPr>
              <a:t>   Individual Assignment 02</a:t>
            </a:r>
            <a:endParaRPr lang="en-US" dirty="0">
              <a:ea typeface="+mn-lt"/>
              <a:cs typeface="+mn-lt"/>
            </a:endParaRPr>
          </a:p>
          <a:p>
            <a:pPr algn="ctr"/>
            <a:r>
              <a:rPr lang="en-US" dirty="0">
                <a:ea typeface="+mn-lt"/>
                <a:cs typeface="+mn-lt"/>
              </a:rPr>
              <a:t>    course:Compiler Design</a:t>
            </a:r>
            <a:endParaRPr lang="en-US" dirty="0">
              <a:ea typeface="+mn-lt"/>
              <a:cs typeface="+mn-lt"/>
            </a:endParaRPr>
          </a:p>
          <a:p>
            <a:pPr algn="ctr"/>
            <a:r>
              <a:rPr lang="en-US" dirty="0">
                <a:ea typeface="+mn-lt"/>
                <a:cs typeface="+mn-lt"/>
              </a:rPr>
              <a:t>Name:Tewolde Fiseha</a:t>
            </a:r>
            <a:endParaRPr lang="en-US" dirty="0">
              <a:ea typeface="+mn-lt"/>
              <a:cs typeface="+mn-lt"/>
            </a:endParaRPr>
          </a:p>
          <a:p>
            <a:pPr algn="ctr"/>
            <a:r>
              <a:rPr lang="en-US" dirty="0">
                <a:ea typeface="+mn-lt"/>
                <a:cs typeface="+mn-lt"/>
              </a:rPr>
              <a:t>Student ID:1411313</a:t>
            </a:r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4773" y="791499"/>
            <a:ext cx="8418285" cy="26468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8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1. Introduction</a:t>
            </a:r>
            <a:endParaRPr lang="en-US" sz="2800" b="1" dirty="0">
              <a:solidFill>
                <a:schemeClr val="tx2">
                  <a:lumMod val="49000"/>
                  <a:lumOff val="51000"/>
                </a:schemeClr>
              </a:solidFill>
            </a:endParaRPr>
          </a:p>
          <a:p>
            <a:r>
              <a:rPr lang="en-US" sz="2000" dirty="0"/>
              <a:t>In modern computing, software is often developed on one system but executed on a completely different system. For example, programs for mobile phones, embedded systems, or microcontrollers are usually written on powerful desktop computers.</a:t>
            </a:r>
            <a:br>
              <a:rPr lang="en-US" sz="2000" dirty="0"/>
            </a:br>
            <a:r>
              <a:rPr lang="en-US" sz="2000" dirty="0"/>
              <a:t>This situation creates the need for a special type of compiler known as a </a:t>
            </a:r>
            <a:r>
              <a:rPr lang="en-US" sz="2000" b="1" dirty="0"/>
              <a:t>cross-compiler</a:t>
            </a:r>
            <a:r>
              <a:rPr lang="en-US" sz="2000" dirty="0"/>
              <a:t>.</a:t>
            </a:r>
            <a:endParaRPr lang="en-US" sz="2000" dirty="0"/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5031" y="471838"/>
            <a:ext cx="8989785" cy="2462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8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2. Definition of a Cross-Compiler</a:t>
            </a:r>
            <a:endParaRPr lang="en-US" sz="2800" b="1" dirty="0">
              <a:solidFill>
                <a:schemeClr val="tx2">
                  <a:lumMod val="49000"/>
                  <a:lumOff val="51000"/>
                </a:schemeClr>
              </a:solidFill>
            </a:endParaRPr>
          </a:p>
          <a:p>
            <a:r>
              <a:rPr lang="en-US" dirty="0"/>
              <a:t>A </a:t>
            </a:r>
            <a:r>
              <a:rPr lang="en-US" b="1" dirty="0"/>
              <a:t>cross-compiler</a:t>
            </a:r>
            <a:r>
              <a:rPr lang="en-US" dirty="0"/>
              <a:t> is a compiler that runs on one type of machine (called the </a:t>
            </a:r>
            <a:r>
              <a:rPr lang="en-US" b="1" dirty="0"/>
              <a:t>host machine</a:t>
            </a:r>
            <a:r>
              <a:rPr lang="en-US" dirty="0"/>
              <a:t>) but generates executable code for a </a:t>
            </a:r>
            <a:r>
              <a:rPr lang="en-US" b="1" dirty="0"/>
              <a:t>different type of machine</a:t>
            </a:r>
            <a:r>
              <a:rPr lang="en-US" dirty="0"/>
              <a:t> (called the </a:t>
            </a:r>
            <a:r>
              <a:rPr lang="en-US" b="1" dirty="0"/>
              <a:t>target machine</a:t>
            </a:r>
            <a:r>
              <a:rPr lang="en-US" dirty="0"/>
              <a:t>).</a:t>
            </a:r>
            <a:endParaRPr lang="en-US" dirty="0"/>
          </a:p>
          <a:p>
            <a:r>
              <a:rPr lang="en-US" b="1" dirty="0"/>
              <a:t>Simple Definition</a:t>
            </a:r>
            <a:endParaRPr lang="en-US" b="1" dirty="0"/>
          </a:p>
          <a:p>
            <a:pPr lvl="1">
              <a:buNone/>
            </a:pPr>
            <a:r>
              <a:rPr lang="en-US" dirty="0"/>
              <a:t>A cross-compiler produces code for a platform other than the one on which it is running.</a:t>
            </a:r>
            <a:endParaRPr lang="en-US" dirty="0"/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9666" y="698500"/>
            <a:ext cx="9071428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8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3. Host Machine vs Target Machine</a:t>
            </a:r>
            <a:endParaRPr lang="en-US" sz="2800" b="1" dirty="0">
              <a:solidFill>
                <a:schemeClr val="tx2">
                  <a:lumMod val="49000"/>
                  <a:lumOff val="51000"/>
                </a:schemeClr>
              </a:solidFill>
            </a:endParaRPr>
          </a:p>
          <a:p>
            <a:r>
              <a:rPr lang="en-US" sz="2000" dirty="0"/>
              <a:t>To understand cross-compilers clearly, it is important to distinguish between:</a:t>
            </a:r>
            <a:endParaRPr lang="en-US" sz="2000" dirty="0"/>
          </a:p>
          <a:p>
            <a:r>
              <a:rPr lang="en-US" sz="2000" b="1" dirty="0"/>
              <a:t>Host Machine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2000" dirty="0"/>
              <a:t>The system where the compiler runs</a:t>
            </a:r>
            <a:endParaRPr lang="en-US" sz="2000" dirty="0"/>
          </a:p>
          <a:p>
            <a:pPr marL="228600" indent="-228600">
              <a:buChar char="•"/>
            </a:pPr>
            <a:r>
              <a:rPr lang="en-US" sz="2000" dirty="0"/>
              <a:t>Example: Windows PC, Linux PC</a:t>
            </a:r>
            <a:endParaRPr lang="en-US" sz="2000" dirty="0"/>
          </a:p>
          <a:p>
            <a:r>
              <a:rPr lang="en-US" sz="2000" b="1" dirty="0"/>
              <a:t>Target Machine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2000" dirty="0"/>
              <a:t>The system where the generated program will execute</a:t>
            </a:r>
            <a:endParaRPr lang="en-US" sz="2000" dirty="0"/>
          </a:p>
          <a:p>
            <a:pPr marL="228600" indent="-228600">
              <a:buChar char="•"/>
            </a:pPr>
            <a:r>
              <a:rPr lang="en-US" sz="2000" dirty="0"/>
              <a:t>Example: ARM processor, microcontroller, embedded board</a:t>
            </a:r>
            <a:endParaRPr lang="en-US" sz="2000" dirty="0"/>
          </a:p>
          <a:p>
            <a:pPr algn="ctr"/>
            <a:endParaRPr lang="en-US"/>
          </a:p>
        </p:txBody>
      </p:sp>
      <p:pic>
        <p:nvPicPr>
          <p:cNvPr id="3" name="Picture 2" descr="A diagram of a computer and a computer chip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9980" y="3552700"/>
            <a:ext cx="4616535" cy="30183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8714" y="290285"/>
            <a:ext cx="9697355" cy="36009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8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4.Why Cross-Compilers Are Needed</a:t>
            </a:r>
            <a:endParaRPr lang="en-US" sz="2800" b="1" dirty="0">
              <a:solidFill>
                <a:schemeClr val="tx2">
                  <a:lumMod val="49000"/>
                  <a:lumOff val="51000"/>
                </a:schemeClr>
              </a:solidFill>
            </a:endParaRPr>
          </a:p>
          <a:p>
            <a:r>
              <a:rPr lang="en-US" sz="2000" dirty="0"/>
              <a:t>Cross-compilers are essential because:</a:t>
            </a:r>
            <a:endParaRPr lang="en-US" sz="2000" dirty="0"/>
          </a:p>
          <a:p>
            <a:pPr marL="228600" indent="-228600">
              <a:buAutoNum type="arabicPeriod"/>
            </a:pPr>
            <a:r>
              <a:rPr lang="en-US" sz="2000" b="1" dirty="0"/>
              <a:t>Target systems may lack resources</a:t>
            </a:r>
            <a:endParaRPr lang="en-US" sz="2000" b="1" dirty="0"/>
          </a:p>
          <a:p>
            <a:pPr marL="228600" lvl="1" indent="-228600">
              <a:buAutoNum type="arabicPeriod"/>
            </a:pPr>
            <a:r>
              <a:rPr lang="en-US" sz="2000" dirty="0"/>
              <a:t>Embedded systems often have limited memory and processing power</a:t>
            </a:r>
            <a:endParaRPr lang="en-US" sz="2000" dirty="0"/>
          </a:p>
          <a:p>
            <a:pPr marL="228600" indent="-228600">
              <a:buAutoNum type="arabicPeriod"/>
            </a:pPr>
            <a:r>
              <a:rPr lang="en-US" sz="2000" b="1" dirty="0"/>
              <a:t>Convenience and speed</a:t>
            </a:r>
            <a:endParaRPr lang="en-US" sz="2000" b="1" dirty="0"/>
          </a:p>
          <a:p>
            <a:pPr marL="228600" lvl="1" indent="-228600">
              <a:buAutoNum type="arabicPeriod"/>
            </a:pPr>
            <a:r>
              <a:rPr lang="en-US" sz="2000" dirty="0"/>
              <a:t>Development is faster on powerful host machines</a:t>
            </a:r>
            <a:endParaRPr lang="en-US" sz="2000" dirty="0"/>
          </a:p>
          <a:p>
            <a:pPr marL="228600" indent="-228600">
              <a:buAutoNum type="arabicPeriod"/>
            </a:pPr>
            <a:r>
              <a:rPr lang="en-US" sz="2000" b="1" dirty="0"/>
              <a:t>Hardware unavailability</a:t>
            </a:r>
            <a:endParaRPr lang="en-US" sz="2000" b="1" dirty="0"/>
          </a:p>
          <a:p>
            <a:pPr marL="228600" lvl="1" indent="-228600">
              <a:buAutoNum type="arabicPeriod"/>
            </a:pPr>
            <a:r>
              <a:rPr lang="en-US" sz="2000" dirty="0"/>
              <a:t>The target hardware may not be available during development</a:t>
            </a:r>
            <a:endParaRPr lang="en-US" sz="2000" dirty="0"/>
          </a:p>
          <a:p>
            <a:pPr marL="228600" indent="-228600">
              <a:buAutoNum type="arabicPeriod"/>
            </a:pPr>
            <a:r>
              <a:rPr lang="en-US" sz="2000" b="1" dirty="0"/>
              <a:t>Industry-standard practice</a:t>
            </a:r>
            <a:endParaRPr lang="en-US" sz="2000" b="1" dirty="0"/>
          </a:p>
          <a:p>
            <a:pPr marL="228600" lvl="1" indent="-228600">
              <a:buAutoNum type="arabicPeriod"/>
            </a:pPr>
            <a:r>
              <a:rPr lang="en-US" sz="2000" dirty="0"/>
              <a:t>Almost all embedded and mobile software is built using cross-compilers</a:t>
            </a:r>
            <a:endParaRPr lang="en-US" sz="2000" dirty="0"/>
          </a:p>
          <a:p>
            <a:pPr algn="ctr"/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6857" y="462643"/>
            <a:ext cx="10586355" cy="26468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8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5. Working Principle of a Cross-Compiler</a:t>
            </a:r>
            <a:endParaRPr lang="en-US" sz="2800" b="1" dirty="0">
              <a:solidFill>
                <a:schemeClr val="tx2">
                  <a:lumMod val="49000"/>
                  <a:lumOff val="51000"/>
                </a:schemeClr>
              </a:solidFill>
            </a:endParaRPr>
          </a:p>
          <a:p>
            <a:r>
              <a:rPr lang="en-US" sz="2000" dirty="0"/>
              <a:t>The working process of a cross-compiler includes:</a:t>
            </a:r>
            <a:endParaRPr lang="en-US" sz="2000" dirty="0"/>
          </a:p>
          <a:p>
            <a:pPr marL="228600" indent="-228600">
              <a:buAutoNum type="arabicPeriod"/>
            </a:pPr>
            <a:r>
              <a:rPr lang="en-US" sz="2000" dirty="0"/>
              <a:t>Source code is written on the </a:t>
            </a:r>
            <a:r>
              <a:rPr lang="en-US" sz="2000" b="1" dirty="0"/>
              <a:t>host machine</a:t>
            </a:r>
            <a:endParaRPr lang="en-US" sz="2000" b="1" dirty="0"/>
          </a:p>
          <a:p>
            <a:pPr marL="228600" indent="-228600">
              <a:buAutoNum type="arabicPeriod"/>
            </a:pPr>
            <a:r>
              <a:rPr lang="en-US" sz="2000" dirty="0"/>
              <a:t>Cross-compiler translates the source code</a:t>
            </a:r>
            <a:endParaRPr lang="en-US" sz="2000" dirty="0"/>
          </a:p>
          <a:p>
            <a:pPr marL="228600" indent="-228600">
              <a:buAutoNum type="arabicPeriod"/>
            </a:pPr>
            <a:r>
              <a:rPr lang="en-US" sz="2000" dirty="0"/>
              <a:t>Machine code is generated for the </a:t>
            </a:r>
            <a:r>
              <a:rPr lang="en-US" sz="2000" b="1" dirty="0"/>
              <a:t>target architecture</a:t>
            </a:r>
            <a:endParaRPr lang="en-US" sz="2000" b="1" dirty="0"/>
          </a:p>
          <a:p>
            <a:pPr marL="228600" indent="-228600">
              <a:buAutoNum type="arabicPeriod"/>
            </a:pPr>
            <a:r>
              <a:rPr lang="en-US" sz="2000" dirty="0"/>
              <a:t>The executable is transferred to the target system</a:t>
            </a:r>
            <a:endParaRPr lang="en-US" sz="2000" dirty="0"/>
          </a:p>
          <a:p>
            <a:pPr marL="228600" indent="-228600">
              <a:buAutoNum type="arabicPeriod"/>
            </a:pPr>
            <a:r>
              <a:rPr lang="en-US" sz="2000" dirty="0"/>
              <a:t>The program runs on the target machine</a:t>
            </a:r>
            <a:endParaRPr lang="en-US" sz="2000" dirty="0"/>
          </a:p>
          <a:p>
            <a:pPr algn="ctr"/>
            <a:endParaRPr lang="en-US"/>
          </a:p>
        </p:txBody>
      </p:sp>
      <p:pic>
        <p:nvPicPr>
          <p:cNvPr id="4" name="Picture 3" descr="A diagram of a cross-computer code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001" y="2911928"/>
            <a:ext cx="5279573" cy="34652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8025" y="959922"/>
          <a:ext cx="9269370" cy="3235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89790"/>
                <a:gridCol w="3089790"/>
                <a:gridCol w="3089790"/>
              </a:tblGrid>
              <a:tr h="6334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  <a:cs typeface="Times New Roman" panose="02020603050405020304"/>
                        </a:rPr>
                        <a:t>Feature</a:t>
                      </a:r>
                      <a:endParaRPr lang="en-US" sz="2000" dirty="0">
                        <a:effectLst/>
                        <a:latin typeface="Aptos"/>
                        <a:cs typeface="Times New Roman" panose="02020603050405020304"/>
                      </a:endParaRPr>
                    </a:p>
                  </a:txBody>
                  <a:tcPr marL="68580" marR="68580"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  <a:cs typeface="Times New Roman" panose="02020603050405020304"/>
                        </a:rPr>
                        <a:t>Native Compiler</a:t>
                      </a:r>
                      <a:endParaRPr lang="en-US" sz="2000" dirty="0">
                        <a:effectLst/>
                        <a:latin typeface="Aptos"/>
                        <a:cs typeface="Times New Roman" panose="02020603050405020304"/>
                      </a:endParaRPr>
                    </a:p>
                  </a:txBody>
                  <a:tcPr marL="68580" marR="68580"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  <a:cs typeface="Times New Roman" panose="02020603050405020304"/>
                        </a:rPr>
                        <a:t>Cross-Compiler</a:t>
                      </a:r>
                      <a:endParaRPr lang="en-US" sz="2000" dirty="0">
                        <a:effectLst/>
                        <a:latin typeface="Aptos"/>
                        <a:cs typeface="Times New Roman" panose="02020603050405020304"/>
                      </a:endParaRPr>
                    </a:p>
                  </a:txBody>
                  <a:tcPr marL="68580" marR="68580"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3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  <a:cs typeface="Times New Roman" panose="02020603050405020304"/>
                        </a:rPr>
                        <a:t>Runs on</a:t>
                      </a:r>
                      <a:endParaRPr lang="en-US" sz="2000" dirty="0">
                        <a:effectLst/>
                        <a:latin typeface="Aptos"/>
                        <a:cs typeface="Times New Roman" panose="02020603050405020304"/>
                      </a:endParaRPr>
                    </a:p>
                  </a:txBody>
                  <a:tcPr marL="68580" marR="68580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  <a:cs typeface="Times New Roman" panose="02020603050405020304"/>
                        </a:rPr>
                        <a:t>Same system</a:t>
                      </a:r>
                      <a:endParaRPr lang="en-US" sz="2000" dirty="0">
                        <a:effectLst/>
                        <a:latin typeface="Aptos"/>
                        <a:cs typeface="Times New Roman" panose="02020603050405020304"/>
                      </a:endParaRPr>
                    </a:p>
                  </a:txBody>
                  <a:tcPr marL="68580" marR="68580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  <a:cs typeface="Times New Roman" panose="02020603050405020304"/>
                        </a:rPr>
                        <a:t>Host system</a:t>
                      </a:r>
                      <a:endParaRPr lang="en-US" sz="2000" dirty="0">
                        <a:effectLst/>
                        <a:latin typeface="Aptos"/>
                        <a:cs typeface="Times New Roman" panose="02020603050405020304"/>
                      </a:endParaRPr>
                    </a:p>
                  </a:txBody>
                  <a:tcPr marL="68580" marR="68580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3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  <a:cs typeface="Times New Roman" panose="02020603050405020304"/>
                        </a:rPr>
                        <a:t>Generates code for</a:t>
                      </a:r>
                      <a:endParaRPr lang="en-US" sz="2000" dirty="0">
                        <a:effectLst/>
                        <a:latin typeface="Aptos"/>
                        <a:cs typeface="Times New Roman" panose="02020603050405020304"/>
                      </a:endParaRPr>
                    </a:p>
                  </a:txBody>
                  <a:tcPr marL="68580" marR="68580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  <a:cs typeface="Times New Roman" panose="02020603050405020304"/>
                        </a:rPr>
                        <a:t>Same system</a:t>
                      </a:r>
                      <a:endParaRPr lang="en-US" sz="2000" dirty="0">
                        <a:effectLst/>
                        <a:latin typeface="Aptos"/>
                        <a:cs typeface="Times New Roman" panose="02020603050405020304"/>
                      </a:endParaRPr>
                    </a:p>
                  </a:txBody>
                  <a:tcPr marL="68580" marR="68580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  <a:cs typeface="Times New Roman" panose="02020603050405020304"/>
                        </a:rPr>
                        <a:t>Different system</a:t>
                      </a:r>
                      <a:endParaRPr lang="en-US" sz="2000" dirty="0">
                        <a:effectLst/>
                        <a:latin typeface="Aptos"/>
                        <a:cs typeface="Times New Roman" panose="02020603050405020304"/>
                      </a:endParaRPr>
                    </a:p>
                  </a:txBody>
                  <a:tcPr marL="68580" marR="68580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3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  <a:cs typeface="Times New Roman" panose="02020603050405020304"/>
                        </a:rPr>
                        <a:t>Complexity</a:t>
                      </a:r>
                      <a:endParaRPr lang="en-US" sz="2000" dirty="0">
                        <a:effectLst/>
                        <a:latin typeface="Aptos"/>
                        <a:cs typeface="Times New Roman" panose="02020603050405020304"/>
                      </a:endParaRPr>
                    </a:p>
                  </a:txBody>
                  <a:tcPr marL="68580" marR="68580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  <a:cs typeface="Times New Roman" panose="02020603050405020304"/>
                        </a:rPr>
                        <a:t>Simpler</a:t>
                      </a:r>
                      <a:endParaRPr lang="en-US" sz="2000" dirty="0">
                        <a:effectLst/>
                        <a:latin typeface="Aptos"/>
                        <a:cs typeface="Times New Roman" panose="02020603050405020304"/>
                      </a:endParaRPr>
                    </a:p>
                  </a:txBody>
                  <a:tcPr marL="68580" marR="68580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  <a:cs typeface="Times New Roman" panose="02020603050405020304"/>
                        </a:rPr>
                        <a:t>More complex</a:t>
                      </a:r>
                      <a:endParaRPr lang="en-US" sz="2000" dirty="0">
                        <a:effectLst/>
                        <a:latin typeface="Aptos"/>
                        <a:cs typeface="Times New Roman" panose="02020603050405020304"/>
                      </a:endParaRPr>
                    </a:p>
                  </a:txBody>
                  <a:tcPr marL="68580" marR="68580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1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  <a:cs typeface="Times New Roman" panose="02020603050405020304"/>
                        </a:rPr>
                        <a:t>Common use</a:t>
                      </a:r>
                      <a:endParaRPr lang="en-US" sz="2000" dirty="0">
                        <a:effectLst/>
                        <a:latin typeface="Aptos"/>
                        <a:cs typeface="Times New Roman" panose="02020603050405020304"/>
                      </a:endParaRPr>
                    </a:p>
                  </a:txBody>
                  <a:tcPr marL="68580" marR="68580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  <a:cs typeface="Times New Roman" panose="02020603050405020304"/>
                        </a:rPr>
                        <a:t>Desktop apps</a:t>
                      </a:r>
                      <a:endParaRPr lang="en-US" sz="2000" dirty="0">
                        <a:effectLst/>
                        <a:latin typeface="Aptos"/>
                        <a:cs typeface="Times New Roman" panose="02020603050405020304"/>
                      </a:endParaRPr>
                    </a:p>
                  </a:txBody>
                  <a:tcPr marL="68580" marR="68580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  <a:cs typeface="Times New Roman" panose="02020603050405020304"/>
                        </a:rPr>
                        <a:t>Embedded &amp; mobile systems</a:t>
                      </a:r>
                      <a:endParaRPr lang="en-US" sz="2000" dirty="0">
                        <a:effectLst/>
                        <a:latin typeface="Aptos"/>
                        <a:cs typeface="Times New Roman" panose="02020603050405020304"/>
                      </a:endParaRPr>
                    </a:p>
                  </a:txBody>
                  <a:tcPr marL="68580" marR="68580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" y="462643"/>
            <a:ext cx="9143999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800" b="1" dirty="0">
                <a:solidFill>
                  <a:schemeClr val="tx2">
                    <a:lumMod val="49000"/>
                    <a:lumOff val="51000"/>
                  </a:schemeClr>
                </a:solidFill>
                <a:latin typeface="Aptos Display"/>
                <a:ea typeface="Aptos Display"/>
                <a:cs typeface="Aptos Display"/>
              </a:rPr>
              <a:t>6. Cross-Compiler vs Native Compiler</a:t>
            </a:r>
            <a:endParaRPr lang="en-US" sz="2800" b="1" dirty="0">
              <a:solidFill>
                <a:schemeClr val="tx2">
                  <a:lumMod val="49000"/>
                  <a:lumOff val="51000"/>
                </a:schemeClr>
              </a:solidFill>
              <a:latin typeface="Aptos Display"/>
              <a:ea typeface="Aptos Display"/>
              <a:cs typeface="Aptos Display"/>
            </a:endParaRPr>
          </a:p>
          <a:p>
            <a:endParaRPr lang="en-US"/>
          </a:p>
          <a:p>
            <a:endParaRPr lang="en-US"/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8500" y="707571"/>
            <a:ext cx="7375071" cy="3570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800" b="1" dirty="0">
                <a:solidFill>
                  <a:schemeClr val="tx2">
                    <a:lumMod val="49000"/>
                    <a:lumOff val="51000"/>
                  </a:schemeClr>
                </a:solidFill>
                <a:latin typeface="Aptos Display"/>
                <a:ea typeface="Aptos Display"/>
                <a:cs typeface="Aptos Display"/>
              </a:rPr>
              <a:t>7. Practical Example</a:t>
            </a:r>
            <a:endParaRPr lang="en-US" sz="2800" b="1" dirty="0">
              <a:solidFill>
                <a:schemeClr val="tx2">
                  <a:lumMod val="49000"/>
                  <a:lumOff val="51000"/>
                </a:schemeClr>
              </a:solidFill>
              <a:latin typeface="Aptos Display"/>
              <a:ea typeface="Aptos Display"/>
              <a:cs typeface="Aptos Display"/>
            </a:endParaRPr>
          </a:p>
          <a:p>
            <a:r>
              <a:rPr lang="en-US" sz="2000" b="1" dirty="0">
                <a:solidFill>
                  <a:srgbClr val="0F4761"/>
                </a:solidFill>
                <a:latin typeface="Aptos"/>
                <a:ea typeface="Aptos"/>
                <a:cs typeface="Aptos"/>
              </a:rPr>
              <a:t>Example Scenario</a:t>
            </a:r>
            <a:endParaRPr lang="en-US" sz="2000" b="1" dirty="0">
              <a:solidFill>
                <a:srgbClr val="0F4761"/>
              </a:solidFill>
              <a:latin typeface="Aptos"/>
              <a:ea typeface="Aptos"/>
              <a:cs typeface="Aptos"/>
            </a:endParaRPr>
          </a:p>
          <a:p>
            <a:pPr marL="457200" indent="-228600"/>
            <a:r>
              <a:rPr lang="en-US" sz="2000" dirty="0">
                <a:latin typeface="Aptos"/>
                <a:ea typeface="Aptos"/>
                <a:cs typeface="Aptos"/>
              </a:rPr>
              <a:t>Host Machine: Windows PC (x86)</a:t>
            </a:r>
            <a:endParaRPr lang="en-US" sz="2000" dirty="0">
              <a:latin typeface="Aptos"/>
              <a:ea typeface="Aptos"/>
              <a:cs typeface="Aptos"/>
            </a:endParaRPr>
          </a:p>
          <a:p>
            <a:pPr marL="457200" indent="-228600"/>
            <a:r>
              <a:rPr lang="en-US" sz="2000" dirty="0">
                <a:latin typeface="Aptos"/>
                <a:ea typeface="Aptos"/>
                <a:cs typeface="Aptos"/>
              </a:rPr>
              <a:t>Target Machine: ARM-based microcontroller</a:t>
            </a:r>
            <a:endParaRPr lang="en-US" sz="2000" dirty="0">
              <a:latin typeface="Aptos"/>
              <a:ea typeface="Aptos"/>
              <a:cs typeface="Aptos"/>
            </a:endParaRPr>
          </a:p>
          <a:p>
            <a:r>
              <a:rPr lang="en-US" sz="2000" dirty="0">
                <a:latin typeface="Aptos"/>
                <a:ea typeface="Aptos"/>
                <a:cs typeface="Aptos"/>
              </a:rPr>
              <a:t>A developer uses an </a:t>
            </a:r>
            <a:r>
              <a:rPr lang="en-US" sz="2000" b="1" dirty="0">
                <a:latin typeface="Aptos"/>
                <a:ea typeface="Aptos"/>
                <a:cs typeface="Aptos"/>
              </a:rPr>
              <a:t>ARM cross-compiler</a:t>
            </a:r>
            <a:r>
              <a:rPr lang="en-US" sz="2000" dirty="0">
                <a:latin typeface="Aptos"/>
                <a:ea typeface="Aptos"/>
                <a:cs typeface="Aptos"/>
              </a:rPr>
              <a:t> on Windows to generate machine code that runs on the ARM processor.</a:t>
            </a:r>
            <a:endParaRPr lang="en-US" sz="2000" dirty="0">
              <a:latin typeface="Aptos"/>
              <a:ea typeface="Aptos"/>
              <a:cs typeface="Aptos"/>
            </a:endParaRPr>
          </a:p>
          <a:p>
            <a:r>
              <a:rPr lang="en-US" sz="2000" b="1" dirty="0">
                <a:solidFill>
                  <a:srgbClr val="0F4761"/>
                </a:solidFill>
                <a:latin typeface="Aptos"/>
                <a:ea typeface="Aptos"/>
                <a:cs typeface="Aptos"/>
              </a:rPr>
              <a:t>Common Tools</a:t>
            </a:r>
            <a:endParaRPr lang="en-US" sz="2000" b="1" dirty="0">
              <a:solidFill>
                <a:srgbClr val="0F4761"/>
              </a:solidFill>
              <a:latin typeface="Aptos"/>
              <a:ea typeface="Aptos"/>
              <a:cs typeface="Aptos"/>
            </a:endParaRPr>
          </a:p>
          <a:p>
            <a:pPr marL="457200" indent="-228600"/>
            <a:r>
              <a:rPr lang="en-US" sz="2000" dirty="0">
                <a:latin typeface="Aptos"/>
                <a:ea typeface="Aptos"/>
                <a:cs typeface="Aptos"/>
              </a:rPr>
              <a:t>GCC Cross-Compiler (e.g., </a:t>
            </a:r>
            <a:r>
              <a:rPr lang="en-US" sz="2000" dirty="0">
                <a:latin typeface="Consolas" panose="020B0609020204030204"/>
                <a:ea typeface="Consolas" panose="020B0609020204030204"/>
                <a:cs typeface="Consolas" panose="020B0609020204030204"/>
              </a:rPr>
              <a:t>arm-none-</a:t>
            </a:r>
            <a:r>
              <a:rPr lang="en-US" sz="2000" err="1">
                <a:latin typeface="Consolas" panose="020B0609020204030204"/>
                <a:ea typeface="Consolas" panose="020B0609020204030204"/>
                <a:cs typeface="Consolas" panose="020B0609020204030204"/>
              </a:rPr>
              <a:t>eabi</a:t>
            </a:r>
            <a:r>
              <a:rPr lang="en-US" sz="2000" dirty="0">
                <a:latin typeface="Consolas" panose="020B0609020204030204"/>
                <a:ea typeface="Consolas" panose="020B0609020204030204"/>
                <a:cs typeface="Consolas" panose="020B0609020204030204"/>
              </a:rPr>
              <a:t>-</a:t>
            </a:r>
            <a:r>
              <a:rPr lang="en-US" sz="2000" err="1">
                <a:latin typeface="Consolas" panose="020B0609020204030204"/>
                <a:ea typeface="Consolas" panose="020B0609020204030204"/>
                <a:cs typeface="Consolas" panose="020B0609020204030204"/>
              </a:rPr>
              <a:t>gcc</a:t>
            </a:r>
            <a:r>
              <a:rPr lang="en-US" sz="2000" dirty="0">
                <a:latin typeface="Aptos"/>
                <a:ea typeface="Aptos"/>
                <a:cs typeface="Aptos"/>
              </a:rPr>
              <a:t>)</a:t>
            </a:r>
            <a:endParaRPr lang="en-US" sz="2000" dirty="0">
              <a:latin typeface="Aptos"/>
              <a:ea typeface="Aptos"/>
              <a:cs typeface="Aptos"/>
            </a:endParaRPr>
          </a:p>
          <a:p>
            <a:pPr marL="457200" indent="-228600"/>
            <a:r>
              <a:rPr lang="en-US" sz="2000" dirty="0">
                <a:latin typeface="Aptos"/>
                <a:ea typeface="Aptos"/>
                <a:cs typeface="Aptos"/>
              </a:rPr>
              <a:t>Android NDK compilers</a:t>
            </a:r>
            <a:endParaRPr lang="en-US" sz="2000" dirty="0">
              <a:latin typeface="Aptos"/>
              <a:ea typeface="Aptos"/>
              <a:cs typeface="Aptos"/>
            </a:endParaRPr>
          </a:p>
          <a:p>
            <a:r>
              <a:rPr lang="en-US" sz="2000" dirty="0">
                <a:latin typeface="Aptos"/>
                <a:ea typeface="Aptos"/>
                <a:cs typeface="Aptos"/>
              </a:rPr>
              <a:t>Embedded Linux toolchain</a:t>
            </a:r>
            <a:endParaRPr lang="en-US" sz="2000" dirty="0">
              <a:latin typeface="Aptos"/>
              <a:ea typeface="Aptos"/>
              <a:cs typeface="Aptos"/>
            </a:endParaRPr>
          </a:p>
          <a:p>
            <a:pPr algn="ctr"/>
            <a:endParaRPr lang="en-US"/>
          </a:p>
        </p:txBody>
      </p:sp>
      <p:pic>
        <p:nvPicPr>
          <p:cNvPr id="3" name="Picture 2" descr="A computer with a computer and a computer mouse connected to it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8630" y="3433948"/>
            <a:ext cx="4824352" cy="32162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8500" y="535214"/>
            <a:ext cx="4118427" cy="40010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800" b="1" dirty="0">
                <a:solidFill>
                  <a:schemeClr val="tx2">
                    <a:lumMod val="49000"/>
                    <a:lumOff val="51000"/>
                  </a:schemeClr>
                </a:solidFill>
                <a:latin typeface="Aptos Display"/>
                <a:ea typeface="Aptos Display"/>
                <a:cs typeface="Aptos Display"/>
              </a:rPr>
              <a:t>8. Real-World Applications</a:t>
            </a:r>
            <a:endParaRPr lang="en-US" sz="2800" b="1" dirty="0">
              <a:solidFill>
                <a:schemeClr val="tx2">
                  <a:lumMod val="49000"/>
                  <a:lumOff val="51000"/>
                </a:schemeClr>
              </a:solidFill>
              <a:latin typeface="Aptos Display"/>
              <a:ea typeface="Aptos Display"/>
              <a:cs typeface="Aptos Display"/>
            </a:endParaRPr>
          </a:p>
          <a:p>
            <a:r>
              <a:rPr lang="en-US" sz="2000" dirty="0">
                <a:latin typeface="Aptos"/>
                <a:ea typeface="Aptos"/>
                <a:cs typeface="Aptos"/>
              </a:rPr>
              <a:t>Cross-compilers are widely used in:</a:t>
            </a:r>
            <a:endParaRPr lang="en-US" sz="2000" dirty="0">
              <a:latin typeface="Aptos"/>
              <a:ea typeface="Aptos"/>
              <a:cs typeface="Aptos"/>
            </a:endParaRPr>
          </a:p>
          <a:p>
            <a:pPr marL="571500" indent="-342900">
              <a:buFont typeface="Wingdings" panose="05000000000000000000"/>
              <a:buChar char="ü"/>
            </a:pPr>
            <a:r>
              <a:rPr lang="en-US" sz="2000" dirty="0">
                <a:latin typeface="Aptos"/>
                <a:ea typeface="Aptos"/>
                <a:cs typeface="Aptos"/>
              </a:rPr>
              <a:t>Embedded systems (washing machines, cars, medical devices)</a:t>
            </a:r>
            <a:endParaRPr lang="en-US" sz="2000" dirty="0">
              <a:latin typeface="Aptos"/>
              <a:ea typeface="Aptos"/>
              <a:cs typeface="Aptos"/>
            </a:endParaRPr>
          </a:p>
          <a:p>
            <a:pPr marL="571500" indent="-342900">
              <a:buFont typeface="Wingdings" panose="05000000000000000000"/>
              <a:buChar char="ü"/>
            </a:pPr>
            <a:r>
              <a:rPr lang="en-US" sz="2000" dirty="0">
                <a:latin typeface="Aptos"/>
                <a:ea typeface="Aptos"/>
                <a:cs typeface="Aptos"/>
              </a:rPr>
              <a:t>Mobile phone application development</a:t>
            </a:r>
            <a:endParaRPr lang="en-US" sz="2000" dirty="0">
              <a:latin typeface="Aptos"/>
              <a:ea typeface="Aptos"/>
              <a:cs typeface="Aptos"/>
            </a:endParaRPr>
          </a:p>
          <a:p>
            <a:pPr marL="571500" indent="-342900">
              <a:buFont typeface="Wingdings" panose="05000000000000000000"/>
              <a:buChar char="ü"/>
            </a:pPr>
            <a:r>
              <a:rPr lang="en-US" sz="2000" dirty="0">
                <a:latin typeface="Aptos"/>
                <a:ea typeface="Aptos"/>
                <a:cs typeface="Aptos"/>
              </a:rPr>
              <a:t>Operating system kernels</a:t>
            </a:r>
            <a:endParaRPr lang="en-US" sz="2000" dirty="0">
              <a:latin typeface="Aptos"/>
              <a:ea typeface="Aptos"/>
              <a:cs typeface="Aptos"/>
            </a:endParaRPr>
          </a:p>
          <a:p>
            <a:pPr marL="571500" indent="-342900">
              <a:buFont typeface="Wingdings" panose="05000000000000000000"/>
              <a:buChar char="ü"/>
            </a:pPr>
            <a:r>
              <a:rPr lang="en-US" sz="2000" dirty="0">
                <a:latin typeface="Aptos"/>
                <a:ea typeface="Aptos"/>
                <a:cs typeface="Aptos"/>
              </a:rPr>
              <a:t>IoT devices</a:t>
            </a:r>
            <a:endParaRPr lang="en-US" sz="2000" dirty="0">
              <a:latin typeface="Aptos"/>
              <a:ea typeface="Aptos"/>
              <a:cs typeface="Aptos"/>
            </a:endParaRPr>
          </a:p>
          <a:p>
            <a:pPr marL="571500" indent="-342900">
              <a:buFont typeface="Wingdings" panose="05000000000000000000"/>
              <a:buChar char="ü"/>
            </a:pPr>
            <a:r>
              <a:rPr lang="en-US" sz="2000" dirty="0">
                <a:latin typeface="Aptos"/>
                <a:ea typeface="Aptos"/>
                <a:cs typeface="Aptos"/>
              </a:rPr>
              <a:t>Game consoles</a:t>
            </a:r>
            <a:endParaRPr lang="en-US" sz="2000" dirty="0">
              <a:latin typeface="Aptos"/>
              <a:ea typeface="Aptos"/>
              <a:cs typeface="Aptos"/>
            </a:endParaRPr>
          </a:p>
          <a:p>
            <a:pPr algn="ctr"/>
            <a:endParaRPr lang="en-US"/>
          </a:p>
        </p:txBody>
      </p:sp>
      <p:pic>
        <p:nvPicPr>
          <p:cNvPr id="3" name="Picture 2" descr="A blue car and a cell phone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7752" y="818902"/>
            <a:ext cx="4334496" cy="33399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2929" y="807357"/>
            <a:ext cx="6096000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800" b="1" dirty="0">
                <a:solidFill>
                  <a:schemeClr val="tx2">
                    <a:lumMod val="49000"/>
                    <a:lumOff val="51000"/>
                  </a:schemeClr>
                </a:solidFill>
                <a:latin typeface="Aptos Display"/>
                <a:ea typeface="Aptos Display"/>
                <a:cs typeface="Aptos Display"/>
              </a:rPr>
              <a:t>9. Advantages of Cross-Compilers</a:t>
            </a:r>
            <a:endParaRPr lang="en-US" sz="2800" b="1" dirty="0">
              <a:solidFill>
                <a:schemeClr val="tx2">
                  <a:lumMod val="49000"/>
                  <a:lumOff val="51000"/>
                </a:schemeClr>
              </a:solidFill>
              <a:latin typeface="Aptos Display"/>
              <a:ea typeface="Aptos Display"/>
              <a:cs typeface="Aptos Display"/>
            </a:endParaRPr>
          </a:p>
          <a:p>
            <a:pPr marL="571500" indent="-342900">
              <a:buFont typeface="Wingdings" panose="05000000000000000000"/>
              <a:buChar char="ü"/>
            </a:pPr>
            <a:r>
              <a:rPr lang="en-US" sz="2000" dirty="0">
                <a:latin typeface="Aptos"/>
                <a:ea typeface="Aptos"/>
                <a:cs typeface="Aptos"/>
              </a:rPr>
              <a:t>Enables development for resource-limited systems</a:t>
            </a:r>
            <a:endParaRPr lang="en-US" sz="2000" dirty="0">
              <a:latin typeface="Aptos"/>
              <a:ea typeface="Aptos"/>
              <a:cs typeface="Aptos"/>
            </a:endParaRPr>
          </a:p>
          <a:p>
            <a:pPr marL="571500" indent="-342900">
              <a:buFont typeface="Wingdings" panose="05000000000000000000"/>
              <a:buChar char="ü"/>
            </a:pPr>
            <a:r>
              <a:rPr lang="en-US" sz="2000" dirty="0">
                <a:latin typeface="Aptos"/>
                <a:ea typeface="Aptos"/>
                <a:cs typeface="Aptos"/>
              </a:rPr>
              <a:t>Improves development efficiency</a:t>
            </a:r>
            <a:endParaRPr lang="en-US" sz="2000" dirty="0">
              <a:latin typeface="Aptos"/>
              <a:ea typeface="Aptos"/>
              <a:cs typeface="Aptos"/>
            </a:endParaRPr>
          </a:p>
          <a:p>
            <a:pPr marL="571500" indent="-342900">
              <a:buFont typeface="Wingdings" panose="05000000000000000000"/>
              <a:buChar char="ü"/>
            </a:pPr>
            <a:r>
              <a:rPr lang="en-US" sz="2000" dirty="0">
                <a:latin typeface="Aptos"/>
                <a:ea typeface="Aptos"/>
                <a:cs typeface="Aptos"/>
              </a:rPr>
              <a:t>Supports multiple hardware architectures</a:t>
            </a:r>
            <a:endParaRPr lang="en-US" sz="2000" dirty="0">
              <a:latin typeface="Aptos"/>
              <a:ea typeface="Aptos"/>
              <a:cs typeface="Aptos"/>
            </a:endParaRPr>
          </a:p>
          <a:p>
            <a:pPr marL="571500" indent="-342900">
              <a:buFont typeface="Wingdings" panose="05000000000000000000"/>
              <a:buChar char="ü"/>
            </a:pPr>
            <a:r>
              <a:rPr lang="en-US" sz="2000" dirty="0">
                <a:latin typeface="Aptos"/>
                <a:ea typeface="Aptos"/>
                <a:cs typeface="Aptos"/>
              </a:rPr>
              <a:t>Essential for embedded and system-level programming</a:t>
            </a:r>
            <a:endParaRPr lang="en-US" sz="2000" dirty="0">
              <a:latin typeface="Aptos"/>
              <a:ea typeface="Aptos"/>
              <a:cs typeface="Aptos"/>
            </a:endParaRPr>
          </a:p>
          <a:p>
            <a:pPr marL="342900" indent="-342900" algn="ctr">
              <a:buFont typeface="Wingdings" panose="05000000000000000000"/>
              <a:buChar char="ü"/>
            </a:pP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974766" y="545111"/>
            <a:ext cx="6096000" cy="203132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tx2">
                    <a:lumMod val="49000"/>
                    <a:lumOff val="51000"/>
                  </a:schemeClr>
                </a:solidFill>
                <a:latin typeface="Aptos Display"/>
                <a:ea typeface="Aptos Display"/>
                <a:cs typeface="Aptos Display"/>
              </a:rPr>
              <a:t>10. Challenges of Cross-Compilers</a:t>
            </a:r>
            <a:endParaRPr lang="en-US" sz="2800" b="1" dirty="0">
              <a:solidFill>
                <a:schemeClr val="tx2">
                  <a:lumMod val="49000"/>
                  <a:lumOff val="51000"/>
                </a:schemeClr>
              </a:solidFill>
              <a:latin typeface="Aptos Display"/>
              <a:ea typeface="Aptos Display"/>
              <a:cs typeface="Aptos Display"/>
            </a:endParaRPr>
          </a:p>
          <a:p>
            <a:pPr marL="571500" indent="-342900">
              <a:buFont typeface="Wingdings" panose="05000000000000000000"/>
              <a:buChar char="ü"/>
            </a:pPr>
            <a:r>
              <a:rPr lang="en-US" sz="2000" dirty="0">
                <a:latin typeface="Aptos"/>
                <a:ea typeface="Aptos"/>
                <a:cs typeface="Aptos"/>
              </a:rPr>
              <a:t>More complex toolchain setup</a:t>
            </a:r>
            <a:endParaRPr lang="en-US" sz="2000" dirty="0">
              <a:latin typeface="Aptos"/>
              <a:ea typeface="Aptos"/>
              <a:cs typeface="Aptos"/>
            </a:endParaRPr>
          </a:p>
          <a:p>
            <a:pPr marL="571500" indent="-342900">
              <a:buFont typeface="Wingdings" panose="05000000000000000000"/>
              <a:buChar char="ü"/>
            </a:pPr>
            <a:r>
              <a:rPr lang="en-US" sz="2000" dirty="0">
                <a:latin typeface="Aptos"/>
                <a:ea typeface="Aptos"/>
                <a:cs typeface="Aptos"/>
              </a:rPr>
              <a:t>Debugging can be difficult</a:t>
            </a:r>
            <a:endParaRPr lang="en-US" sz="2000" dirty="0">
              <a:latin typeface="Aptos"/>
              <a:ea typeface="Aptos"/>
              <a:cs typeface="Aptos"/>
            </a:endParaRPr>
          </a:p>
          <a:p>
            <a:pPr marL="571500" indent="-342900">
              <a:buFont typeface="Wingdings" panose="05000000000000000000"/>
              <a:buChar char="ü"/>
            </a:pPr>
            <a:r>
              <a:rPr lang="en-US" sz="2000" dirty="0">
                <a:latin typeface="Aptos"/>
                <a:ea typeface="Aptos"/>
                <a:cs typeface="Aptos"/>
              </a:rPr>
              <a:t>Requires correct configuration of libraries and architectures</a:t>
            </a:r>
            <a:endParaRPr lang="en-US" sz="2000" dirty="0">
              <a:latin typeface="Aptos"/>
              <a:ea typeface="Aptos"/>
              <a:cs typeface="Aptos"/>
            </a:endParaRP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/>
          <p:nvPr/>
        </p:nvSpPr>
        <p:spPr>
          <a:xfrm>
            <a:off x="308429" y="353786"/>
            <a:ext cx="10658103" cy="226215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11.Role in Compiler Design</a:t>
            </a:r>
            <a:endParaRPr lang="en-US" sz="2800">
              <a:solidFill>
                <a:schemeClr val="tx2">
                  <a:lumMod val="49000"/>
                  <a:lumOff val="51000"/>
                </a:schemeClr>
              </a:solidFill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Demonstrates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machine </a:t>
            </a:r>
            <a:r>
              <a:rPr lang="en-US" sz="2000" b="1" baseline="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independence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Shows </a:t>
            </a:r>
            <a:r>
              <a:rPr lang="en-US" sz="2000" b="1" baseline="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front-end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/ </a:t>
            </a:r>
            <a:r>
              <a:rPr lang="en-US" sz="2000" b="1" baseline="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back-end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separation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US" sz="2000" baseline="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Importance of </a:t>
            </a:r>
            <a:r>
              <a:rPr lang="en-US" sz="2000" b="1" baseline="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intermediate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representation (IR)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Supports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portability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baseline="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of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code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ea typeface="+mn-lt"/>
              <a:cs typeface="+mn-lt"/>
            </a:endParaRPr>
          </a:p>
          <a:p>
            <a:pPr>
              <a:lnSpc>
                <a:spcPts val="1800"/>
              </a:lnSpc>
            </a:pPr>
            <a:endParaRPr lang="en-US" sz="2800" baseline="0" dirty="0">
              <a:solidFill>
                <a:schemeClr val="tx1">
                  <a:lumMod val="95000"/>
                  <a:lumOff val="5000"/>
                </a:schemeClr>
              </a:solidFill>
              <a:latin typeface="Aptos Display"/>
              <a:ea typeface="Segoe UI" panose="020B0502040204020203"/>
              <a:cs typeface="Segoe UI" panose="020B0502040204020203"/>
            </a:endParaRPr>
          </a:p>
          <a:p>
            <a:pPr algn="ctr"/>
            <a:endParaRPr lang="en-US"/>
          </a:p>
        </p:txBody>
      </p:sp>
      <p:pic>
        <p:nvPicPr>
          <p:cNvPr id="2" name="Picture 1" descr="A diagram of a computer proces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0473" y="2375064"/>
            <a:ext cx="6160327" cy="409698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5929" y="580571"/>
            <a:ext cx="9183584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800" b="1" dirty="0">
                <a:solidFill>
                  <a:schemeClr val="tx2">
                    <a:lumMod val="49000"/>
                    <a:lumOff val="51000"/>
                  </a:schemeClr>
                </a:solidFill>
                <a:latin typeface="Aptos Display"/>
                <a:ea typeface="Aptos Display"/>
                <a:cs typeface="Aptos Display"/>
              </a:rPr>
              <a:t>12. Conclusion</a:t>
            </a:r>
            <a:endParaRPr lang="en-US" sz="2800" b="1" dirty="0">
              <a:solidFill>
                <a:schemeClr val="tx2">
                  <a:lumMod val="49000"/>
                  <a:lumOff val="51000"/>
                </a:schemeClr>
              </a:solidFill>
              <a:latin typeface="Aptos Display"/>
              <a:ea typeface="Aptos Display"/>
              <a:cs typeface="Aptos Display"/>
            </a:endParaRPr>
          </a:p>
          <a:p>
            <a:r>
              <a:rPr lang="en-US" sz="2000" dirty="0">
                <a:latin typeface="Aptos"/>
                <a:ea typeface="Aptos"/>
                <a:cs typeface="Aptos"/>
              </a:rPr>
              <a:t>A cross-compiler is a vital tool in modern software development. It allows programmers to write and compile code on one system while targeting another system. Cross-compilers are especially important in embedded systems, mobile computing, and hardware-specific application development.</a:t>
            </a:r>
            <a:endParaRPr lang="en-US" sz="2000" dirty="0">
              <a:latin typeface="Aptos"/>
              <a:ea typeface="Aptos"/>
              <a:cs typeface="Aptos"/>
            </a:endParaRPr>
          </a:p>
          <a:p>
            <a:r>
              <a:rPr lang="en-US" sz="2000" dirty="0">
                <a:latin typeface="Aptos"/>
                <a:ea typeface="Aptos"/>
                <a:cs typeface="Aptos"/>
              </a:rPr>
              <a:t>Understanding cross-compilers helps students grasp key compiler concepts such as portability, code generation, and machine dependence.</a:t>
            </a:r>
            <a:endParaRPr lang="en-US" sz="2000" dirty="0">
              <a:latin typeface="Aptos"/>
              <a:ea typeface="Aptos"/>
              <a:cs typeface="Aptos"/>
            </a:endParaRPr>
          </a:p>
          <a:p>
            <a:pPr algn="ctr"/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2625" y="278130"/>
            <a:ext cx="2277110" cy="1207135"/>
          </a:xfrm>
        </p:spPr>
        <p:txBody>
          <a:bodyPr/>
          <a:p>
            <a:r>
              <a:rPr lang="en-US" altLang="en-US" sz="2800"/>
              <a:t>References</a:t>
            </a:r>
            <a:endParaRPr lang="en-US" altLang="en-US" sz="2800"/>
          </a:p>
        </p:txBody>
      </p:sp>
      <p:sp>
        <p:nvSpPr>
          <p:cNvPr id="7" name="Text Box 6"/>
          <p:cNvSpPr txBox="1"/>
          <p:nvPr/>
        </p:nvSpPr>
        <p:spPr>
          <a:xfrm>
            <a:off x="1397000" y="1586230"/>
            <a:ext cx="8460105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/>
              <a:t>1.Aho, A. V., Lam, M. S., Sethi, R., &amp; Ullman, J. D.</a:t>
            </a:r>
            <a:endParaRPr lang="en-US" altLang="en-US" sz="2000"/>
          </a:p>
          <a:p>
            <a:r>
              <a:rPr lang="en-US" altLang="en-US" sz="2000"/>
              <a:t>Compilers: Principles, Techniques, and Tools (2nd ed.).</a:t>
            </a:r>
            <a:endParaRPr lang="en-US" altLang="en-US" sz="2000"/>
          </a:p>
          <a:p>
            <a:r>
              <a:rPr lang="en-US" altLang="en-US" sz="2000"/>
              <a:t>Pearson Education, 2007.</a:t>
            </a:r>
            <a:endParaRPr lang="en-US" altLang="en-US" sz="2000"/>
          </a:p>
          <a:p>
            <a:r>
              <a:rPr lang="en-US" altLang="en-US" sz="2000"/>
              <a:t>(Classic “Dragon Book” – core compiler design reference)</a:t>
            </a:r>
            <a:endParaRPr lang="en-US" altLang="en-US" sz="2000"/>
          </a:p>
          <a:p>
            <a:r>
              <a:rPr lang="en-US" altLang="en-US" sz="2000"/>
              <a:t>2.Grune, D., van Reeuwijk, K., Bal, H. E., Jacobs, C. J. H., &amp; Langendoen, K.</a:t>
            </a:r>
            <a:endParaRPr lang="en-US" altLang="en-US" sz="2000"/>
          </a:p>
          <a:p>
            <a:r>
              <a:rPr lang="en-US" altLang="en-US" sz="2000"/>
              <a:t>Modern Compiler Design (2nd ed.).</a:t>
            </a:r>
            <a:endParaRPr lang="en-US" altLang="en-US" sz="2000"/>
          </a:p>
          <a:p>
            <a:r>
              <a:rPr lang="en-US" altLang="en-US" sz="2000"/>
              <a:t>Springer, 2012.</a:t>
            </a:r>
            <a:endParaRPr lang="en-US" altLang="en-US" sz="2000"/>
          </a:p>
          <a:p>
            <a:r>
              <a:rPr lang="en-US" sz="2000"/>
              <a:t>3.Online compiler resources</a:t>
            </a:r>
            <a:endParaRPr lang="en-US" sz="2000"/>
          </a:p>
          <a:p>
            <a:endParaRPr 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3853</Words>
  <Application>WPS Presentation</Application>
  <PresentationFormat>Widescreen</PresentationFormat>
  <Paragraphs>144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2" baseType="lpstr">
      <vt:lpstr>Arial</vt:lpstr>
      <vt:lpstr>SimSun</vt:lpstr>
      <vt:lpstr>Wingdings</vt:lpstr>
      <vt:lpstr>Wingdings 3</vt:lpstr>
      <vt:lpstr>Symbol</vt:lpstr>
      <vt:lpstr>Arial</vt:lpstr>
      <vt:lpstr>Aptos</vt:lpstr>
      <vt:lpstr>Segoe UI</vt:lpstr>
      <vt:lpstr>Times New Roman</vt:lpstr>
      <vt:lpstr>Aptos Display</vt:lpstr>
      <vt:lpstr>Consolas</vt:lpstr>
      <vt:lpstr>Wingdings</vt:lpstr>
      <vt:lpstr>Segoe UI</vt:lpstr>
      <vt:lpstr>Trebuchet MS</vt:lpstr>
      <vt:lpstr>Microsoft YaHei</vt:lpstr>
      <vt:lpstr>Arial Unicode MS</vt:lpstr>
      <vt:lpstr>Calibri</vt:lpstr>
      <vt:lpstr>Facet</vt:lpstr>
      <vt:lpstr>Principles of Cross Compiler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tewolf2576</cp:lastModifiedBy>
  <cp:revision>226</cp:revision>
  <dcterms:created xsi:type="dcterms:W3CDTF">2013-07-15T20:26:00Z</dcterms:created>
  <dcterms:modified xsi:type="dcterms:W3CDTF">2026-01-22T20:08:57Z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4072916F988D45D297DCD2FC5EA01329_12</vt:lpwstr>
  </property>
  <property fmtid="{D5CDD505-2E9C-101B-9397-08002B2CF9AE}" pid="3" name="KSOProductBuildVer">
    <vt:lpwstr>1033-12.2.0.23196</vt:lpwstr>
  </property>
</Properties>
</file>