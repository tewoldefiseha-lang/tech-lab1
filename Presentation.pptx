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47C9B-CA83-920D-8B04-2427A1461B0E}" v="11" dt="2026-01-02T19:27:58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60" d="100"/>
          <a:sy n="60" d="100"/>
        </p:scale>
        <p:origin x="-78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4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3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39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1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8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9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8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4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4394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38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28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438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46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  <p:sldLayoutId id="2147484094" r:id="rId12"/>
    <p:sldLayoutId id="2147484095" r:id="rId13"/>
    <p:sldLayoutId id="2147484096" r:id="rId14"/>
    <p:sldLayoutId id="2147484097" r:id="rId15"/>
    <p:sldLayoutId id="214748409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1853" y="2436065"/>
            <a:ext cx="9449968" cy="164630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Principles of Compiler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3298EF-3460-D0C6-B04D-1F5F732421A7}"/>
              </a:ext>
            </a:extLst>
          </p:cNvPr>
          <p:cNvSpPr txBox="1"/>
          <p:nvPr/>
        </p:nvSpPr>
        <p:spPr>
          <a:xfrm>
            <a:off x="770896" y="790864"/>
            <a:ext cx="8418285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1. Introduction</a:t>
            </a:r>
          </a:p>
          <a:p>
            <a:r>
              <a:rPr lang="en-US" sz="2000" dirty="0"/>
              <a:t>In modern computing, software is often developed on one system but executed on a completely different system. For example, programs for mobile phones, embedded systems, or microcontrollers are usually written on powerful desktop computers.</a:t>
            </a:r>
            <a:br>
              <a:rPr lang="en-US" sz="2000" dirty="0"/>
            </a:br>
            <a:r>
              <a:rPr lang="en-US" sz="2000" dirty="0"/>
              <a:t>This situation creates the need for a special type of compiler known as a </a:t>
            </a:r>
            <a:r>
              <a:rPr lang="en-US" sz="2000" b="1" dirty="0"/>
              <a:t>cross-compiler</a:t>
            </a:r>
            <a:r>
              <a:rPr lang="en-US" sz="2000" dirty="0"/>
              <a:t>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92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9D6C3A0-B6F2-337D-D2A9-A733EEFAAF85}"/>
              </a:ext>
            </a:extLst>
          </p:cNvPr>
          <p:cNvSpPr txBox="1"/>
          <p:nvPr/>
        </p:nvSpPr>
        <p:spPr>
          <a:xfrm>
            <a:off x="590592" y="665512"/>
            <a:ext cx="898978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2. Definition of a Cross-Compiler</a:t>
            </a:r>
          </a:p>
          <a:p>
            <a:r>
              <a:rPr lang="en-US" dirty="0"/>
              <a:t>A </a:t>
            </a:r>
            <a:r>
              <a:rPr lang="en-US" b="1" dirty="0"/>
              <a:t>cross-compiler</a:t>
            </a:r>
            <a:r>
              <a:rPr lang="en-US" dirty="0"/>
              <a:t> is a compiler that runs on one type of machine (called the </a:t>
            </a:r>
            <a:r>
              <a:rPr lang="en-US" b="1" dirty="0"/>
              <a:t>host machine</a:t>
            </a:r>
            <a:r>
              <a:rPr lang="en-US" dirty="0"/>
              <a:t>) but generates executable code for a </a:t>
            </a:r>
            <a:r>
              <a:rPr lang="en-US" b="1" dirty="0"/>
              <a:t>different type of machine</a:t>
            </a:r>
            <a:r>
              <a:rPr lang="en-US" dirty="0"/>
              <a:t> (called the </a:t>
            </a:r>
            <a:r>
              <a:rPr lang="en-US" b="1" dirty="0"/>
              <a:t>target machine</a:t>
            </a:r>
            <a:r>
              <a:rPr lang="en-US" dirty="0"/>
              <a:t>).</a:t>
            </a:r>
          </a:p>
          <a:p>
            <a:r>
              <a:rPr lang="en-US" b="1" dirty="0"/>
              <a:t>Simple Definition</a:t>
            </a:r>
          </a:p>
          <a:p>
            <a:pPr lvl="1">
              <a:buFont typeface=""/>
              <a:buNone/>
            </a:pPr>
            <a:r>
              <a:rPr lang="en-US" dirty="0"/>
              <a:t>A cross-compiler produces code for a platform other than the one on which it is running.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50F503A-9003-1656-65B2-9C51E6CB942D}"/>
              </a:ext>
            </a:extLst>
          </p:cNvPr>
          <p:cNvSpPr txBox="1"/>
          <p:nvPr/>
        </p:nvSpPr>
        <p:spPr>
          <a:xfrm>
            <a:off x="360355" y="698500"/>
            <a:ext cx="9071428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3. Host Machine vs Target Machine</a:t>
            </a:r>
          </a:p>
          <a:p>
            <a:r>
              <a:rPr lang="en-US" sz="2000" dirty="0"/>
              <a:t>To understand cross-compilers clearly, it is important to distinguish between:</a:t>
            </a:r>
          </a:p>
          <a:p>
            <a:r>
              <a:rPr lang="en-US" sz="2000" b="1" dirty="0"/>
              <a:t>Host Machine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The system where the compiler runs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Example: Windows PC, Linux PC</a:t>
            </a:r>
          </a:p>
          <a:p>
            <a:r>
              <a:rPr lang="en-US" sz="2000" b="1" dirty="0"/>
              <a:t>Target Machine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The system where the generated program will execute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Example: ARM processor, microcontroller, embedded board</a:t>
            </a:r>
          </a:p>
          <a:p>
            <a:pPr algn="ctr"/>
            <a:endParaRPr lang="en-US" dirty="0"/>
          </a:p>
        </p:txBody>
      </p:sp>
      <p:pic>
        <p:nvPicPr>
          <p:cNvPr id="3" name="Picture 2" descr="A diagram of a computer and a computer chip&#10;&#10;AI-generated content may be incorrect.">
            <a:extLst>
              <a:ext uri="{FF2B5EF4-FFF2-40B4-BE49-F238E27FC236}">
                <a16:creationId xmlns:a16="http://schemas.microsoft.com/office/drawing/2014/main" xmlns="" id="{A8C59779-599C-EC58-68E0-8244B311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980" y="3552700"/>
            <a:ext cx="4616535" cy="301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7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D4ECEE9-9960-59D1-378E-81A76442B33F}"/>
              </a:ext>
            </a:extLst>
          </p:cNvPr>
          <p:cNvSpPr txBox="1"/>
          <p:nvPr/>
        </p:nvSpPr>
        <p:spPr>
          <a:xfrm>
            <a:off x="598714" y="290285"/>
            <a:ext cx="9697355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4.Why Cross-Compilers Are Needed</a:t>
            </a:r>
          </a:p>
          <a:p>
            <a:r>
              <a:rPr lang="en-US" sz="2000" dirty="0"/>
              <a:t>Cross-compilers are essential because: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/>
              <a:t>Target systems may lack resources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/>
              <a:t>Embedded systems often have limited memory and processing power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/>
              <a:t>Convenience and speed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/>
              <a:t>Development is faster on powerful host machines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/>
              <a:t>Hardware unavailability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/>
              <a:t>The target hardware may not be available during development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/>
              <a:t>Industry-standard practice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/>
              <a:t>Almost all embedded and mobile software is built using cross-compilers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686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D165C44-DF4A-026A-28C1-9D1F048FA36D}"/>
              </a:ext>
            </a:extLst>
          </p:cNvPr>
          <p:cNvSpPr txBox="1"/>
          <p:nvPr/>
        </p:nvSpPr>
        <p:spPr>
          <a:xfrm>
            <a:off x="616857" y="462643"/>
            <a:ext cx="10586355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5. Working Principle of a Cross-Compiler</a:t>
            </a:r>
          </a:p>
          <a:p>
            <a:r>
              <a:rPr lang="en-US" sz="2000" dirty="0"/>
              <a:t>The working process of a cross-compiler includes: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dirty="0"/>
              <a:t>Source code is written on the </a:t>
            </a:r>
            <a:r>
              <a:rPr lang="en-US" sz="2000" b="1" dirty="0"/>
              <a:t>host machine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dirty="0"/>
              <a:t>Cross-compiler translates the source code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dirty="0"/>
              <a:t>Machine code is generated for the </a:t>
            </a:r>
            <a:r>
              <a:rPr lang="en-US" sz="2000" b="1" dirty="0"/>
              <a:t>target architecture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dirty="0"/>
              <a:t>The executable is transferred to the target system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dirty="0"/>
              <a:t>The program runs on the target machine</a:t>
            </a:r>
          </a:p>
          <a:p>
            <a:pPr algn="ctr"/>
            <a:endParaRPr lang="en-US"/>
          </a:p>
        </p:txBody>
      </p:sp>
      <p:pic>
        <p:nvPicPr>
          <p:cNvPr id="4" name="Picture 3" descr="A diagram of a cross-computer code&#10;&#10;AI-generated content may be incorrect.">
            <a:extLst>
              <a:ext uri="{FF2B5EF4-FFF2-40B4-BE49-F238E27FC236}">
                <a16:creationId xmlns:a16="http://schemas.microsoft.com/office/drawing/2014/main" xmlns="" id="{580F1FD8-054C-017E-0428-FC01BDD7B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1" y="2911928"/>
            <a:ext cx="5279573" cy="346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6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DAA18DDA-8E5E-4AA6-A57B-33B812121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775943"/>
              </p:ext>
            </p:extLst>
          </p:nvPr>
        </p:nvGraphicFramePr>
        <p:xfrm>
          <a:off x="188025" y="959922"/>
          <a:ext cx="9269370" cy="3235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9790">
                  <a:extLst>
                    <a:ext uri="{9D8B030D-6E8A-4147-A177-3AD203B41FA5}">
                      <a16:colId xmlns:a16="http://schemas.microsoft.com/office/drawing/2014/main" xmlns="" val="817074086"/>
                    </a:ext>
                  </a:extLst>
                </a:gridCol>
                <a:gridCol w="3089790">
                  <a:extLst>
                    <a:ext uri="{9D8B030D-6E8A-4147-A177-3AD203B41FA5}">
                      <a16:colId xmlns:a16="http://schemas.microsoft.com/office/drawing/2014/main" xmlns="" val="1165560729"/>
                    </a:ext>
                  </a:extLst>
                </a:gridCol>
                <a:gridCol w="3089790">
                  <a:extLst>
                    <a:ext uri="{9D8B030D-6E8A-4147-A177-3AD203B41FA5}">
                      <a16:colId xmlns:a16="http://schemas.microsoft.com/office/drawing/2014/main" xmlns="" val="1516982337"/>
                    </a:ext>
                  </a:extLst>
                </a:gridCol>
              </a:tblGrid>
              <a:tr h="633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Feature</a:t>
                      </a:r>
                    </a:p>
                  </a:txBody>
                  <a:tcPr marL="68580" marR="68580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Native Compiler</a:t>
                      </a:r>
                    </a:p>
                  </a:txBody>
                  <a:tcPr marL="68580" marR="68580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Cross-Compiler</a:t>
                      </a:r>
                    </a:p>
                  </a:txBody>
                  <a:tcPr marL="68580" marR="68580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97836474"/>
                  </a:ext>
                </a:extLst>
              </a:tr>
              <a:tr h="633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Runs on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Same system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Host system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54482692"/>
                  </a:ext>
                </a:extLst>
              </a:tr>
              <a:tr h="633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Generates code for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Same system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Different system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88044669"/>
                  </a:ext>
                </a:extLst>
              </a:tr>
              <a:tr h="633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Complexity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Simpler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More complex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65917627"/>
                  </a:ext>
                </a:extLst>
              </a:tr>
              <a:tr h="69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Common use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Desktop apps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Aptos"/>
                          <a:cs typeface="Times New Roman"/>
                        </a:rPr>
                        <a:t>Embedded &amp; mobile systems</a:t>
                      </a:r>
                    </a:p>
                  </a:txBody>
                  <a:tcPr marL="68580" marR="68580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933723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AF0AF03-745D-8140-E5F5-393D3E557C6D}"/>
              </a:ext>
            </a:extLst>
          </p:cNvPr>
          <p:cNvSpPr txBox="1"/>
          <p:nvPr/>
        </p:nvSpPr>
        <p:spPr>
          <a:xfrm>
            <a:off x="1" y="462643"/>
            <a:ext cx="914399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6. Cross-Compiler vs Native Compiler</a:t>
            </a:r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5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9D3DA32-7703-D956-3E56-113659FECE97}"/>
              </a:ext>
            </a:extLst>
          </p:cNvPr>
          <p:cNvSpPr txBox="1"/>
          <p:nvPr/>
        </p:nvSpPr>
        <p:spPr>
          <a:xfrm>
            <a:off x="698500" y="707571"/>
            <a:ext cx="7375071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7. Practical Example</a:t>
            </a:r>
          </a:p>
          <a:p>
            <a:r>
              <a:rPr lang="en-US" sz="2000" b="1" dirty="0">
                <a:solidFill>
                  <a:srgbClr val="0F4761"/>
                </a:solidFill>
                <a:latin typeface="Aptos"/>
                <a:ea typeface="Aptos"/>
                <a:cs typeface="Aptos"/>
              </a:rPr>
              <a:t>Example Scenario</a:t>
            </a: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Host Machine: Windows PC (x86)</a:t>
            </a: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Target Machine: ARM-based microcontroller</a:t>
            </a:r>
          </a:p>
          <a:p>
            <a:r>
              <a:rPr lang="en-US" sz="2000" dirty="0">
                <a:latin typeface="Aptos"/>
                <a:ea typeface="Aptos"/>
                <a:cs typeface="Aptos"/>
              </a:rPr>
              <a:t>A developer uses an </a:t>
            </a:r>
            <a:r>
              <a:rPr lang="en-US" sz="2000" b="1" dirty="0">
                <a:latin typeface="Aptos"/>
                <a:ea typeface="Aptos"/>
                <a:cs typeface="Aptos"/>
              </a:rPr>
              <a:t>ARM cross-compiler</a:t>
            </a:r>
            <a:r>
              <a:rPr lang="en-US" sz="2000" dirty="0">
                <a:latin typeface="Aptos"/>
                <a:ea typeface="Aptos"/>
                <a:cs typeface="Aptos"/>
              </a:rPr>
              <a:t> on Windows to generate machine code that runs on the ARM processor.</a:t>
            </a:r>
          </a:p>
          <a:p>
            <a:r>
              <a:rPr lang="en-US" sz="2000" b="1" dirty="0">
                <a:solidFill>
                  <a:srgbClr val="0F4761"/>
                </a:solidFill>
                <a:latin typeface="Aptos"/>
                <a:ea typeface="Aptos"/>
                <a:cs typeface="Aptos"/>
              </a:rPr>
              <a:t>Common Tools</a:t>
            </a: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GCC Cross-Compiler (e.g., </a:t>
            </a:r>
            <a:r>
              <a:rPr lang="en-US" sz="2000" dirty="0">
                <a:latin typeface="Consolas"/>
                <a:ea typeface="Consolas"/>
                <a:cs typeface="Consolas"/>
              </a:rPr>
              <a:t>arm-none-</a:t>
            </a:r>
            <a:r>
              <a:rPr lang="en-US" sz="2000" err="1">
                <a:latin typeface="Consolas"/>
                <a:ea typeface="Consolas"/>
                <a:cs typeface="Consolas"/>
              </a:rPr>
              <a:t>eabi</a:t>
            </a:r>
            <a:r>
              <a:rPr lang="en-US" sz="2000" dirty="0">
                <a:latin typeface="Consolas"/>
                <a:ea typeface="Consolas"/>
                <a:cs typeface="Consolas"/>
              </a:rPr>
              <a:t>-</a:t>
            </a:r>
            <a:r>
              <a:rPr lang="en-US" sz="2000" err="1">
                <a:latin typeface="Consolas"/>
                <a:ea typeface="Consolas"/>
                <a:cs typeface="Consolas"/>
              </a:rPr>
              <a:t>gcc</a:t>
            </a:r>
            <a:r>
              <a:rPr lang="en-US" sz="2000" dirty="0">
                <a:latin typeface="Aptos"/>
                <a:ea typeface="Aptos"/>
                <a:cs typeface="Aptos"/>
              </a:rPr>
              <a:t>)</a:t>
            </a:r>
          </a:p>
          <a:p>
            <a:pPr marL="457200" indent="-228600"/>
            <a:r>
              <a:rPr lang="en-US" sz="2000" dirty="0">
                <a:latin typeface="Aptos"/>
                <a:ea typeface="Aptos"/>
                <a:cs typeface="Aptos"/>
              </a:rPr>
              <a:t>Android NDK compilers</a:t>
            </a:r>
          </a:p>
          <a:p>
            <a:r>
              <a:rPr lang="en-US" sz="2000" dirty="0">
                <a:latin typeface="Aptos"/>
                <a:ea typeface="Aptos"/>
                <a:cs typeface="Aptos"/>
              </a:rPr>
              <a:t>Embedded Linux toolchain</a:t>
            </a:r>
          </a:p>
          <a:p>
            <a:pPr algn="ctr"/>
            <a:endParaRPr lang="en-US"/>
          </a:p>
        </p:txBody>
      </p:sp>
      <p:pic>
        <p:nvPicPr>
          <p:cNvPr id="3" name="Picture 2" descr="A computer with a computer and a computer mouse connected to it&#10;&#10;AI-generated content may be incorrect.">
            <a:extLst>
              <a:ext uri="{FF2B5EF4-FFF2-40B4-BE49-F238E27FC236}">
                <a16:creationId xmlns:a16="http://schemas.microsoft.com/office/drawing/2014/main" xmlns="" id="{A4FE760E-69A8-E870-BC84-8BF5B46B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630" y="3433948"/>
            <a:ext cx="4824352" cy="321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9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A9E7946-B069-A9D7-FA69-48C085FBC893}"/>
              </a:ext>
            </a:extLst>
          </p:cNvPr>
          <p:cNvSpPr txBox="1"/>
          <p:nvPr/>
        </p:nvSpPr>
        <p:spPr>
          <a:xfrm>
            <a:off x="698500" y="535214"/>
            <a:ext cx="4118427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8. Real-World Applications</a:t>
            </a:r>
          </a:p>
          <a:p>
            <a:r>
              <a:rPr lang="en-US" sz="2000" dirty="0">
                <a:latin typeface="Aptos"/>
                <a:ea typeface="Aptos"/>
                <a:cs typeface="Aptos"/>
              </a:rPr>
              <a:t>Cross-compilers are widely used in: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Embedded systems (washing machines, cars, medical devices)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Mobile phone application development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Operating system kernels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IoT devices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Game consoles</a:t>
            </a:r>
          </a:p>
          <a:p>
            <a:pPr algn="ctr"/>
            <a:endParaRPr lang="en-US"/>
          </a:p>
        </p:txBody>
      </p:sp>
      <p:pic>
        <p:nvPicPr>
          <p:cNvPr id="3" name="Picture 2" descr="A blue car and a cell phone&#10;&#10;AI-generated content may be incorrect.">
            <a:extLst>
              <a:ext uri="{FF2B5EF4-FFF2-40B4-BE49-F238E27FC236}">
                <a16:creationId xmlns:a16="http://schemas.microsoft.com/office/drawing/2014/main" xmlns="" id="{AEB86826-AF29-18C4-856D-1579287E7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752" y="818902"/>
            <a:ext cx="4334496" cy="333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9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04E0DDA-7719-F1DC-9050-7678AD1C9D38}"/>
              </a:ext>
            </a:extLst>
          </p:cNvPr>
          <p:cNvSpPr txBox="1"/>
          <p:nvPr/>
        </p:nvSpPr>
        <p:spPr>
          <a:xfrm>
            <a:off x="752929" y="807357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9. Advantages of Cross-Compilers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Enables development for resource-limited systems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Improves development efficiency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Supports multiple hardware architectures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Essential for embedded and system-level programming</a:t>
            </a:r>
          </a:p>
          <a:p>
            <a:pPr marL="342900" indent="-342900" algn="ctr">
              <a:buFont typeface="Wingdings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769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2C12107C-5719-F787-4412-68B15731A9F2}"/>
              </a:ext>
            </a:extLst>
          </p:cNvPr>
          <p:cNvSpPr txBox="1"/>
          <p:nvPr/>
        </p:nvSpPr>
        <p:spPr>
          <a:xfrm>
            <a:off x="974766" y="545111"/>
            <a:ext cx="6096000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10. Challenges of Cross-Compilers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More complex toolchain setup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Debugging can be difficult</a:t>
            </a:r>
          </a:p>
          <a:p>
            <a:pPr marL="571500" indent="-342900">
              <a:buFont typeface="Wingdings"/>
              <a:buChar char="ü"/>
            </a:pPr>
            <a:r>
              <a:rPr lang="en-US" sz="2000" dirty="0">
                <a:latin typeface="Aptos"/>
                <a:ea typeface="Aptos"/>
                <a:cs typeface="Aptos"/>
              </a:rPr>
              <a:t>Requires correct configuration of libraries and architectures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xmlns="" id="{14D1458E-3680-84C2-8BB5-AAE1219245F8}"/>
              </a:ext>
            </a:extLst>
          </p:cNvPr>
          <p:cNvSpPr txBox="1"/>
          <p:nvPr/>
        </p:nvSpPr>
        <p:spPr>
          <a:xfrm>
            <a:off x="308429" y="353786"/>
            <a:ext cx="10658103" cy="226215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11.Role in Compiler Design</a:t>
            </a:r>
            <a:endParaRPr lang="en-US" sz="280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Demonstrates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machine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independence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Shows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front-end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/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back-end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separation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Importance of </a:t>
            </a:r>
            <a:r>
              <a:rPr lang="en-US" sz="2000" b="1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intermediate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representation (IR)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Supports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portability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baseline="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of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code</a:t>
            </a:r>
          </a:p>
          <a:p>
            <a:pPr>
              <a:lnSpc>
                <a:spcPts val="1800"/>
              </a:lnSpc>
            </a:pPr>
            <a:endParaRPr lang="en-US" sz="2800" baseline="0" dirty="0">
              <a:solidFill>
                <a:schemeClr val="tx1">
                  <a:lumMod val="95000"/>
                  <a:lumOff val="5000"/>
                </a:schemeClr>
              </a:solidFill>
              <a:latin typeface="Aptos Display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2" name="Picture 1" descr="A diagram of a computer process&#10;&#10;AI-generated content may be incorrect.">
            <a:extLst>
              <a:ext uri="{FF2B5EF4-FFF2-40B4-BE49-F238E27FC236}">
                <a16:creationId xmlns:a16="http://schemas.microsoft.com/office/drawing/2014/main" xmlns="" id="{AB623A0D-A5B4-BF24-FC9E-E30B690F2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473" y="2375064"/>
            <a:ext cx="6160327" cy="409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9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272B2BE-BC00-2F61-1123-E8650AE8ACF0}"/>
              </a:ext>
            </a:extLst>
          </p:cNvPr>
          <p:cNvSpPr txBox="1"/>
          <p:nvPr/>
        </p:nvSpPr>
        <p:spPr>
          <a:xfrm>
            <a:off x="625929" y="580571"/>
            <a:ext cx="918358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 Display"/>
                <a:ea typeface="Aptos Display"/>
                <a:cs typeface="Aptos Display"/>
              </a:rPr>
              <a:t>12. Conclusion</a:t>
            </a:r>
          </a:p>
          <a:p>
            <a:r>
              <a:rPr lang="en-US" sz="2000" dirty="0">
                <a:latin typeface="Aptos"/>
                <a:ea typeface="Aptos"/>
                <a:cs typeface="Aptos"/>
              </a:rPr>
              <a:t>A cross-compiler is a vital tool in modern software development. It allows programmers to write and compile code on one system while targeting another system. Cross-compilers are especially important in embedded systems, mobile computing, and hardware-specific application development.</a:t>
            </a:r>
          </a:p>
          <a:p>
            <a:r>
              <a:rPr lang="en-US" sz="2000" dirty="0">
                <a:latin typeface="Aptos"/>
                <a:ea typeface="Aptos"/>
                <a:cs typeface="Aptos"/>
              </a:rPr>
              <a:t>Understanding cross-compilers helps students grasp key compiler concepts such as portability, code generation, and machine dependence.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333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517</Words>
  <Application>Microsoft Office PowerPoint</Application>
  <PresentationFormat>Custom</PresentationFormat>
  <Paragraphs>82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Facet</vt:lpstr>
      <vt:lpstr>Principles of Compiler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abey</cp:lastModifiedBy>
  <cp:revision>231</cp:revision>
  <dcterms:created xsi:type="dcterms:W3CDTF">2013-07-15T20:26:40Z</dcterms:created>
  <dcterms:modified xsi:type="dcterms:W3CDTF">2026-01-07T17:58:45Z</dcterms:modified>
</cp:coreProperties>
</file>